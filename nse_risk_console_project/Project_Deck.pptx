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AF0F7"/>
                </a:solidFill>
                <a:latin typeface="Calibri"/>
              </a:rPr>
              <a:t>NSE Risk Intelligence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8FA3B8"/>
                </a:solidFill>
              </a:rPr>
              <a:t>Forecasting accuracy, Value-at-Risk backtesting, and macro enrichment — one reusable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FA3B8"/>
                </a:solidFill>
              </a:rPr>
              <a:t>Generated 2026-07-31T07:53:50  ·  Data through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AF0F7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8FA3B8"/>
                </a:solidFill>
              </a:rPr>
              <a:t>Does a risk framework built on an index's own history hold up in the conditions that matter most — or does it quietly understate risk exactly when markets are stressed?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AF0F7"/>
                </a:solidFill>
                <a:latin typeface="Calibri"/>
              </a:rPr>
              <a:t>Headline Results This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9B8FF"/>
                </a:solidFill>
              </a:rPr>
              <a:t>1/4</a:t>
            </a:r>
          </a:p>
          <a:p>
            <a:r>
              <a:rPr sz="1400">
                <a:solidFill>
                  <a:srgbClr val="8FA3B8"/>
                </a:solidFill>
              </a:rPr>
              <a:t>indices in a Stressed regime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1945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9B8FF"/>
                </a:solidFill>
              </a:rPr>
              <a:t>4/4</a:t>
            </a:r>
          </a:p>
          <a:p>
            <a:r>
              <a:rPr sz="1400">
                <a:solidFill>
                  <a:srgbClr val="8FA3B8"/>
                </a:solidFill>
              </a:rPr>
              <a:t>GARCH-based VaR passes backtest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945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9B8FF"/>
                </a:solidFill>
              </a:rPr>
              <a:t>3/4</a:t>
            </a:r>
          </a:p>
          <a:p>
            <a:r>
              <a:rPr sz="1400">
                <a:solidFill>
                  <a:srgbClr val="8FA3B8"/>
                </a:solidFill>
              </a:rPr>
              <a:t>Historical-sim VaR passes backtest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39" y="21945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9B8FF"/>
                </a:solidFill>
              </a:rPr>
              <a:t>4/4</a:t>
            </a:r>
          </a:p>
          <a:p>
            <a:r>
              <a:rPr sz="1400">
                <a:solidFill>
                  <a:srgbClr val="8FA3B8"/>
                </a:solidFill>
              </a:rPr>
              <a:t>Parametric VaR passes backtest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F0F7"/>
                </a:solidFill>
                <a:latin typeface="Calibri"/>
              </a:rPr>
              <a:t>Can the Past Predict Tomorrow?</a:t>
            </a:r>
          </a:p>
        </p:txBody>
      </p:sp>
      <p:pic>
        <p:nvPicPr>
          <p:cNvPr id="4" name="Picture 3" descr="foreca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FA3B8"/>
                </a:solidFill>
              </a:rPr>
              <a:t>Average RMSE gap between ARIMA and Random Forest: 0.00005. Neither model shows a consistent edge across all four indices.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F0F7"/>
                </a:solidFill>
                <a:latin typeface="Calibri"/>
              </a:rPr>
              <a:t>Predicting the Rough Days</a:t>
            </a:r>
          </a:p>
        </p:txBody>
      </p:sp>
      <p:pic>
        <p:nvPicPr>
          <p:cNvPr id="4" name="Picture 3" descr="volatility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F0F7"/>
                </a:solidFill>
                <a:latin typeface="Calibri"/>
              </a:rPr>
              <a:t>When “Safe” Isn't Safe</a:t>
            </a:r>
          </a:p>
        </p:txBody>
      </p:sp>
      <p:pic>
        <p:nvPicPr>
          <p:cNvPr id="4" name="Picture 3" descr="var_backtest_flag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8FA3B8"/>
                </a:solidFill>
              </a:rPr>
              <a:t>At the 95% level, all three VaR methods look reasonable. GARCH-based estimation held up most consistently across indices when backtested formally.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AF0F7"/>
                </a:solidFill>
                <a:latin typeface="Calibri"/>
              </a:rPr>
              <a:t>Model Diagnostics — Did These Models Actually Fit?</a:t>
            </a:r>
          </a:p>
        </p:txBody>
      </p:sp>
      <p:pic>
        <p:nvPicPr>
          <p:cNvPr id="4" name="Picture 3" descr="diagnostics_flag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498079" cy="1999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59B8FF"/>
                </a:solidFill>
              </a:rPr>
              <a:t>141.565</a:t>
            </a:r>
          </a:p>
          <a:p>
            <a:r>
              <a:rPr sz="1300">
                <a:solidFill>
                  <a:srgbClr val="8FA3B8"/>
                </a:solidFill>
              </a:rPr>
              <a:t>Jarque-Bera statistic</a:t>
            </a:r>
          </a:p>
          <a:p>
            <a:r>
              <a:rPr sz="1300">
                <a:solidFill>
                  <a:srgbClr val="8FA3B8"/>
                </a:solidFill>
              </a:rPr>
              <a:t>p-value = 0.0</a:t>
            </a:r>
          </a:p>
          <a:p>
            <a:r>
              <a:rPr sz="1300">
                <a:solidFill>
                  <a:srgbClr val="EAF0F7"/>
                </a:solidFill>
              </a:rPr>
              <a:t>Rejects normality (expected fat tails)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97680"/>
          <a:ext cx="74980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  <a:gridCol w="1249679"/>
                <a:gridCol w="1249679"/>
                <a:gridCol w="1249684"/>
              </a:tblGrid>
              <a:tr h="365760">
                <a:tc>
                  <a:txBody>
                    <a:bodyPr/>
                    <a:lstStyle/>
                    <a:p>
                      <a:r>
                        <a:rPr b="1" sz="100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Clean Resid.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Vol. 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R²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NIFTY50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NIFTYBANK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NIFTYIT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NIFTYAUTO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FA3B8"/>
                </a:solidFill>
              </a:rPr>
              <a:t>Order chosen by AIC comparison across 5 candidates, not asserted. Jarque-Bera commonly fails for daily returns — expected, not a defect — which is why VaR is backtested empirically in the next slide rather than assumed.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EAF0F7"/>
                </a:solidFill>
                <a:latin typeface="Calibri"/>
              </a:rPr>
              <a:t>From Theory to Action: Basel Zones and Rupee Risk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56692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420624">
                <a:tc>
                  <a:txBody>
                    <a:bodyPr/>
                    <a:lstStyle/>
                    <a:p>
                      <a:r>
                        <a:rPr b="1" sz="110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Basel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Exceptions/250d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Today's 99% VaR (₹10cr notional)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/>
                        <a:t>NIFTY50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₹1,754,088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/>
                        <a:t>NIFTYBANK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₹2,133,115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/>
                        <a:t>NIFTYIT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₹4,031,659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/>
                        <a:t>NIFTYAUTO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₹1,905,815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749039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Recommended Action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NIFTY50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STANDARD: Calm/Normal regime, Green Basel zone — no action beyond rout...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NIFTYBANK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STANDARD: Calm/Normal regime, Green Basel zone — no action beyond rout...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NIFTYIT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HEIGHTENED MONITORING: Stressed regime with elevated exceptions — incr...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NIFTYAUTO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STANDARD: Calm/Normal regime, Green Basel zone — no action beyond rout...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AF0F7"/>
                </a:solidFill>
                <a:latin typeface="Calibri"/>
              </a:rPr>
              <a:t>Regime Classification, All Indices</a:t>
            </a:r>
          </a:p>
        </p:txBody>
      </p:sp>
      <p:pic>
        <p:nvPicPr>
          <p:cNvPr id="4" name="Picture 3" descr="regim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55275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AF0F7"/>
                </a:solidFill>
                <a:latin typeface="Calibri"/>
              </a:rPr>
              <a:t>Does the Early-Warning Flag Actually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FA3B8"/>
                </a:solidFill>
              </a:rPr>
              <a:t>Backtested against each index's 10 worst historical single-day losses: was the Stressed flag already showing within the prior 5 trading days?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377440"/>
          <a:ext cx="9144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20624">
                <a:tc>
                  <a:txBody>
                    <a:bodyPr/>
                    <a:lstStyle/>
                    <a:p>
                      <a:r>
                        <a:rPr b="1" sz="130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Worst Days With Advance 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Average Lead Time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/>
                        <a:t>NIFTY50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9/10 (90.0%)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 days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/>
                        <a:t>NIFTYBANK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6/10 (60.0%)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 days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/>
                        <a:t>NIFTYIT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8/10 (80.0%)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 days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/>
                        <a:t>NIFTYAUTO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8/10 (80.0%)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 days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AF0F7"/>
                </a:solidFill>
                <a:latin typeface="Calibri"/>
              </a:rPr>
              <a:t>What This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8FA3B8"/>
                </a:solidFill>
              </a:rPr>
              <a:t>A live regime + VaR monitoring view, built on this same pipeline, would turn this backtested finding into a daily, actionable signal — flagging the moment conditions shift into Stressed, rather than only visible in hindsight.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AF0F7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FA3B8"/>
                </a:solidFill>
              </a:rPr>
              <a:t>Full data, code, and this deck are version-controlled in the project's GitHub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